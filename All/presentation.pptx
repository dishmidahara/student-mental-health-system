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74" r:id="rId10"/>
    <p:sldId id="265" r:id="rId11"/>
    <p:sldId id="266" r:id="rId12"/>
    <p:sldId id="267" r:id="rId13"/>
    <p:sldId id="268" r:id="rId14"/>
    <p:sldId id="275" r:id="rId15"/>
    <p:sldId id="272" r:id="rId16"/>
    <p:sldId id="273" r:id="rId17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82" y="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19CF5054-277B-3FCC-3FD8-0200C806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>
            <a:extLst>
              <a:ext uri="{FF2B5EF4-FFF2-40B4-BE49-F238E27FC236}">
                <a16:creationId xmlns:a16="http://schemas.microsoft.com/office/drawing/2014/main" id="{625DBB7C-22BF-99A4-E74F-D93F84DFF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CB04524A-7855-EBBA-A234-E16C3A4E5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:notes">
            <a:extLst>
              <a:ext uri="{FF2B5EF4-FFF2-40B4-BE49-F238E27FC236}">
                <a16:creationId xmlns:a16="http://schemas.microsoft.com/office/drawing/2014/main" id="{E301B223-D9C9-5B28-B61B-101017C36D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8677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6" name="Google Shape;25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>
          <a:extLst>
            <a:ext uri="{FF2B5EF4-FFF2-40B4-BE49-F238E27FC236}">
              <a16:creationId xmlns:a16="http://schemas.microsoft.com/office/drawing/2014/main" id="{4A352B6D-BD11-9D80-D20E-FC8B5AF5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:notes">
            <a:extLst>
              <a:ext uri="{FF2B5EF4-FFF2-40B4-BE49-F238E27FC236}">
                <a16:creationId xmlns:a16="http://schemas.microsoft.com/office/drawing/2014/main" id="{FEFE6496-4B4C-BB13-9BDC-74819BA371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p16:notes">
            <a:extLst>
              <a:ext uri="{FF2B5EF4-FFF2-40B4-BE49-F238E27FC236}">
                <a16:creationId xmlns:a16="http://schemas.microsoft.com/office/drawing/2014/main" id="{B34E578B-7D4F-6EA7-6DCD-697F18E7D9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6:notes">
            <a:extLst>
              <a:ext uri="{FF2B5EF4-FFF2-40B4-BE49-F238E27FC236}">
                <a16:creationId xmlns:a16="http://schemas.microsoft.com/office/drawing/2014/main" id="{90B3C55A-69E3-6285-49A1-9B261237CB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9928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9" name="Google Shape;40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6" name="Google Shape;42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933" y="-10990"/>
            <a:ext cx="12192000" cy="68580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3"/>
          <p:cNvGrpSpPr/>
          <p:nvPr/>
        </p:nvGrpSpPr>
        <p:grpSpPr>
          <a:xfrm>
            <a:off x="762000" y="1428750"/>
            <a:ext cx="6667500" cy="1771800"/>
            <a:chOff x="0" y="0"/>
            <a:chExt cx="6667500" cy="1771800"/>
          </a:xfrm>
        </p:grpSpPr>
        <p:sp>
          <p:nvSpPr>
            <p:cNvPr id="18" name="Google Shape;18;p3"/>
            <p:cNvSpPr txBox="1"/>
            <p:nvPr/>
          </p:nvSpPr>
          <p:spPr>
            <a:xfrm>
              <a:off x="0" y="0"/>
              <a:ext cx="6667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660" b="1">
                  <a:solidFill>
                    <a:srgbClr val="3730A3"/>
                  </a:solidFill>
                  <a:latin typeface="Cambria"/>
                  <a:ea typeface="Cambria"/>
                  <a:cs typeface="Cambria"/>
                  <a:sym typeface="Cambria"/>
                </a:rPr>
                <a:t>MINDSPACE</a:t>
              </a:r>
              <a:endParaRPr sz="7660" b="1">
                <a:solidFill>
                  <a:srgbClr val="3730A3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9" name="Google Shape;19;p3"/>
            <p:cNvSpPr txBox="1"/>
            <p:nvPr/>
          </p:nvSpPr>
          <p:spPr>
            <a:xfrm>
              <a:off x="0" y="1095375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>
                  <a:solidFill>
                    <a:srgbClr val="2FBF8F"/>
                  </a:solidFill>
                  <a:latin typeface="Calibri"/>
                  <a:ea typeface="Calibri"/>
                  <a:cs typeface="Calibri"/>
                  <a:sym typeface="Calibri"/>
                </a:rPr>
                <a:t>Student Mental Health Support System</a:t>
              </a:r>
              <a:endParaRPr sz="2700" b="1">
                <a:solidFill>
                  <a:srgbClr val="2FBF8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0" y="1714500"/>
              <a:ext cx="1143000" cy="57300"/>
            </a:xfrm>
            <a:prstGeom prst="roundRect">
              <a:avLst>
                <a:gd name="adj" fmla="val 50000"/>
              </a:avLst>
            </a:prstGeom>
            <a:solidFill>
              <a:srgbClr val="2FBF8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3"/>
          <p:cNvGrpSpPr/>
          <p:nvPr/>
        </p:nvGrpSpPr>
        <p:grpSpPr>
          <a:xfrm>
            <a:off x="762000" y="5222925"/>
            <a:ext cx="3296202" cy="1238400"/>
            <a:chOff x="0" y="0"/>
            <a:chExt cx="4381500" cy="1238400"/>
          </a:xfrm>
        </p:grpSpPr>
        <p:sp>
          <p:nvSpPr>
            <p:cNvPr id="22" name="Google Shape;22;p3"/>
            <p:cNvSpPr/>
            <p:nvPr/>
          </p:nvSpPr>
          <p:spPr>
            <a:xfrm>
              <a:off x="0" y="0"/>
              <a:ext cx="4381500" cy="1238400"/>
            </a:xfrm>
            <a:prstGeom prst="roundRect">
              <a:avLst>
                <a:gd name="adj" fmla="val 9230"/>
              </a:avLst>
            </a:prstGeom>
            <a:solidFill>
              <a:srgbClr val="FFFFFF"/>
            </a:solidFill>
            <a:ln w="14300" cap="flat" cmpd="sng">
              <a:solidFill>
                <a:srgbClr val="E4E3F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0" y="0"/>
              <a:ext cx="57300" cy="1238400"/>
            </a:xfrm>
            <a:prstGeom prst="roundRect">
              <a:avLst>
                <a:gd name="adj" fmla="val 50000"/>
              </a:avLst>
            </a:prstGeom>
            <a:solidFill>
              <a:srgbClr val="3730A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 txBox="1"/>
            <p:nvPr/>
          </p:nvSpPr>
          <p:spPr>
            <a:xfrm>
              <a:off x="238125" y="0"/>
              <a:ext cx="3905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22213A"/>
                  </a:solidFill>
                  <a:latin typeface="Cambria"/>
                  <a:ea typeface="Cambria"/>
                  <a:cs typeface="Cambria"/>
                  <a:sym typeface="Cambria"/>
                </a:rPr>
                <a:t>D. D. Gajanayaka</a:t>
              </a:r>
              <a:endParaRPr sz="2200" b="1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900" b="0">
                  <a:solidFill>
                    <a:srgbClr val="6B6A85"/>
                  </a:solidFill>
                  <a:latin typeface="Calibri"/>
                  <a:ea typeface="Calibri"/>
                  <a:cs typeface="Calibri"/>
                  <a:sym typeface="Calibri"/>
                </a:rPr>
                <a:t>DEH/IT/2324/F/0044</a:t>
              </a:r>
              <a:endParaRPr sz="1900" b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E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F8F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Why MindSpace?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16916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115568" y="19110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1600"/>
              <a:buFont typeface="Cambria"/>
              <a:buNone/>
            </a:pPr>
            <a:r>
              <a:rPr lang="en-US" sz="1600" b="1" dirty="0">
                <a:solidFill>
                  <a:schemeClr val="tx1"/>
                </a:solidFill>
                <a:latin typeface="Cambria"/>
                <a:ea typeface="Cambria"/>
                <a:cs typeface="Calibri"/>
                <a:sym typeface="Cambria"/>
              </a:rPr>
              <a:t>1.</a:t>
            </a:r>
            <a:endParaRPr sz="16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463040" y="194767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Rising student stress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22960" y="25603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5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Academic pressure, exams and social adjustment drive elevated stress and anxiety among university students.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943600" y="16916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446520" y="19110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1600"/>
              <a:buFont typeface="Cambria"/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2.</a:t>
            </a:r>
            <a:endParaRPr sz="16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858000" y="194767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Stigma &amp; inconvenience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217920" y="25603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5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Students must visit counsellors physically; scheduling relies on paper logs, calls or email.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640" y="39319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1069848" y="4142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1600"/>
              <a:buFont typeface="Cambria"/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3.</a:t>
            </a:r>
            <a:endParaRPr sz="16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463040" y="418795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No after-hours support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822960" y="480060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5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Counselling units run office hours only no help is available when anxiety strikes at night.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943600" y="39319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455664" y="4142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1600"/>
              <a:buFont typeface="Cambria"/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4.</a:t>
            </a:r>
            <a:endParaRPr sz="16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858000" y="418795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No progress visibility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217920" y="480060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25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Counsellors cannot track a student's wellness journey between sessions.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E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F8F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2964180" y="1929384"/>
            <a:ext cx="5958840" cy="4215384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914400" y="196596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450"/>
              <a:buFont typeface="Calibri"/>
              <a:buNone/>
            </a:pPr>
            <a:endParaRPr sz="1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319272" y="2724912"/>
            <a:ext cx="63093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350"/>
              <a:buFont typeface="+mj-lt"/>
              <a:buAutoNum type="arabicPeriod"/>
            </a:pPr>
            <a:r>
              <a:rPr lang="en-US" sz="18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Monitor their emotional wellbeing over time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2213A"/>
              </a:buClr>
              <a:buSzPts val="1350"/>
              <a:buFont typeface="+mj-lt"/>
              <a:buAutoNum type="arabicPeriod"/>
            </a:pPr>
            <a:r>
              <a:rPr lang="en-US" sz="18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Access self-help resources at any hour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2213A"/>
              </a:buClr>
              <a:buSzPts val="1350"/>
              <a:buFont typeface="+mj-lt"/>
              <a:buAutoNum type="arabicPeriod"/>
            </a:pPr>
            <a:r>
              <a:rPr lang="en-US" sz="18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Communicate anonymously with peers without stigma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2213A"/>
              </a:buClr>
              <a:buSzPts val="1350"/>
              <a:buFont typeface="+mj-lt"/>
              <a:buAutoNum type="arabicPeriod"/>
            </a:pPr>
            <a:r>
              <a:rPr lang="en-US" sz="18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Book appointments with professional counsellors easily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2213A"/>
              </a:buClr>
              <a:buSzPts val="1350"/>
              <a:buFont typeface="+mj-lt"/>
              <a:buAutoNum type="arabicPeriod"/>
            </a:pPr>
            <a:r>
              <a:rPr lang="en-US" sz="18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Give staff visibility into wellbeing trends, so at-risk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2213A"/>
              </a:buClr>
              <a:buSzPts val="1350"/>
              <a:buFont typeface="+mj-lt"/>
              <a:buAutoNum type="arabicPeriod"/>
            </a:pPr>
            <a:r>
              <a:rPr lang="en-US" sz="18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students are identified and supported promptly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 flipV="1">
            <a:off x="8001000" y="1645920"/>
            <a:ext cx="149087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reaching out.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8001000" y="4663440"/>
            <a:ext cx="33832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FF7EE"/>
              </a:buClr>
              <a:buSzPts val="1250"/>
              <a:buFont typeface="Calibri"/>
              <a:buNone/>
            </a:pP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E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F8F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Aim &amp; Objectives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48640" y="16459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F0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822960" y="178308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14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3730A3"/>
                </a:solidFill>
                <a:latin typeface="Calibri"/>
                <a:ea typeface="Calibri"/>
                <a:cs typeface="Calibri"/>
                <a:sym typeface="Calibri"/>
              </a:rPr>
              <a:t>Aim:  </a:t>
            </a:r>
            <a:r>
              <a:rPr lang="en-US" sz="18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Design and implement a full-stack, role-based web application that supports student mental wellbeing through self-monitoring, automated first-line assistance, peer support and structured counsellor booking.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30352" y="2880360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600" dirty="0">
                <a:solidFill>
                  <a:schemeClr val="tx1"/>
                </a:solidFill>
                <a:latin typeface="Cambria"/>
                <a:ea typeface="Cambria"/>
                <a:cs typeface="Calibri"/>
                <a:sym typeface="Cambria"/>
              </a:rPr>
              <a:t>1.</a:t>
            </a:r>
            <a:endParaRPr sz="16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987552" y="2788920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None/>
            </a:pPr>
            <a:r>
              <a:rPr lang="en-US" sz="18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Mood-tracking module with lifestyle indicators &amp; trend analytics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306312" y="2889504"/>
            <a:ext cx="63398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600" dirty="0">
                <a:solidFill>
                  <a:schemeClr val="tx1"/>
                </a:solidFill>
                <a:latin typeface="Cambria"/>
                <a:ea typeface="Cambria"/>
                <a:cs typeface="Calibri"/>
                <a:sym typeface="Cambria"/>
              </a:rPr>
              <a:t>2.</a:t>
            </a:r>
            <a:endParaRPr sz="16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702552" y="2788920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None/>
            </a:pPr>
            <a:r>
              <a:rPr lang="en-US" sz="18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Rule-based sentiment analysis of free-text journal entries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76072" y="3776472"/>
            <a:ext cx="60350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600" dirty="0">
                <a:solidFill>
                  <a:schemeClr val="tx1"/>
                </a:solidFill>
                <a:latin typeface="Cambria"/>
                <a:ea typeface="Cambria"/>
                <a:cs typeface="Calibri"/>
                <a:sym typeface="Cambria"/>
              </a:rPr>
              <a:t>3.</a:t>
            </a:r>
            <a:endParaRPr sz="16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987552" y="3685032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None/>
            </a:pPr>
            <a:r>
              <a:rPr lang="en-US" sz="18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Relaxation mini-games recommended by logged mood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297168" y="3922776"/>
            <a:ext cx="63398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600" dirty="0">
                <a:solidFill>
                  <a:schemeClr val="tx1"/>
                </a:solidFill>
                <a:latin typeface="Cambria"/>
                <a:ea typeface="Cambria"/>
                <a:cs typeface="Calibri"/>
                <a:sym typeface="Cambria"/>
              </a:rPr>
              <a:t>4.</a:t>
            </a:r>
            <a:endParaRPr sz="16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702552" y="3685032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None/>
            </a:pPr>
            <a:r>
              <a:rPr lang="en-US" sz="18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Bilingual (English/Sinhala) AI companion - Aura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66928" y="4681728"/>
            <a:ext cx="60350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5.</a:t>
            </a:r>
            <a:endParaRPr sz="16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987552" y="4581144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None/>
            </a:pPr>
            <a:r>
              <a:rPr lang="en-US" sz="18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Counsellor discovery, booking &amp; mock payment workflow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227064" y="4828032"/>
            <a:ext cx="8138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600" dirty="0">
                <a:solidFill>
                  <a:schemeClr val="tx1"/>
                </a:solidFill>
                <a:latin typeface="Cambria"/>
                <a:ea typeface="Cambria"/>
                <a:cs typeface="Calibri"/>
                <a:sym typeface="Cambria"/>
              </a:rPr>
              <a:t>6.</a:t>
            </a:r>
            <a:endParaRPr sz="16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702552" y="4581144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None/>
            </a:pPr>
            <a:r>
              <a:rPr lang="en-US" sz="18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Anonymous peer-to-peer support chat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48640" y="5715000"/>
            <a:ext cx="67665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7.</a:t>
            </a:r>
            <a:endParaRPr sz="16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987552" y="5477256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None/>
            </a:pPr>
            <a:r>
              <a:rPr lang="en-US" sz="18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Role-based administrative dashboard &amp; reporting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E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F8F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Project Scope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DFF7EE"/>
          </a:solidFill>
          <a:ln>
            <a:noFill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7A54"/>
              </a:buClr>
              <a:buSzPts val="1600"/>
              <a:buFont typeface="Cambria"/>
              <a:buNone/>
            </a:pPr>
            <a:r>
              <a:rPr lang="en-US" sz="2000" b="1" i="0" u="none" strike="noStrike" cap="none" dirty="0">
                <a:solidFill>
                  <a:srgbClr val="1B7A54"/>
                </a:solidFill>
                <a:latin typeface="Cambria"/>
                <a:ea typeface="Cambria"/>
                <a:cs typeface="Cambria"/>
                <a:sym typeface="Cambria"/>
              </a:rPr>
              <a:t>IN SCOPE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868680" y="2377440"/>
            <a:ext cx="484632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✓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Registration &amp; role-based auth (Student / Counsellor / Admin)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✓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Mood tracking with streaks, badges &amp; sentiment feedback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✓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Bilingual rule-based AI chatbot (Aura)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✓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Counselling booking with simulated payment &amp; payouts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✓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Counsellor application &amp; admin verification (KYC)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✓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Anonymous real-time peer support chat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✓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Wellness resources, announcements &amp; feedback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217920" y="169164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FBEAEA"/>
          </a:solidFill>
          <a:ln>
            <a:noFill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6537960" y="1920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3A3A"/>
              </a:buClr>
              <a:buSzPts val="1600"/>
              <a:buFont typeface="Cambria"/>
              <a:buNone/>
            </a:pPr>
            <a:r>
              <a:rPr lang="en-US" sz="2000" b="1" i="0" u="none" strike="noStrike" cap="none" dirty="0">
                <a:solidFill>
                  <a:srgbClr val="B23A3A"/>
                </a:solidFill>
                <a:latin typeface="Cambria"/>
                <a:ea typeface="Cambria"/>
                <a:cs typeface="Cambria"/>
                <a:sym typeface="Cambria"/>
              </a:rPr>
              <a:t>OUT OF SCOPE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537960" y="2377440"/>
            <a:ext cx="484632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✕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Real-time emergency / crisis medical response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✕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Clinical diagnosis, prescription or medication management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✕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Integration with a real third-party payment gateway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✕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Government / national health-system integration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✕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Native iOS or Android mobile applications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✕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Third-party generative-AI provider for the chatbot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E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F8F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Technology Stack &amp; Architecture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48640" y="173736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795528" y="192024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500"/>
              <a:buFont typeface="Cambria"/>
              <a:buNone/>
            </a:pPr>
            <a:r>
              <a:rPr lang="en-US" sz="1800" b="1" i="0" u="none" strike="noStrike" cap="none" dirty="0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Frontend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804672" y="251460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050"/>
              <a:buFont typeface="Calibri"/>
              <a:buNone/>
            </a:pPr>
            <a:r>
              <a:rPr lang="en-US" b="0" i="0" u="none" strike="noStrike" cap="none" dirty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React 19.2 SPA + Vite 8 bundler, React Router v7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389120" y="173736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4700016" y="192024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500"/>
              <a:buFont typeface="Cambria"/>
              <a:buNone/>
            </a:pPr>
            <a:r>
              <a:rPr lang="en-US" sz="1800" b="1" i="0" u="none" strike="noStrike" cap="none" dirty="0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Backend API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645152" y="251460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050"/>
              <a:buFont typeface="Calibri"/>
              <a:buNone/>
            </a:pPr>
            <a:r>
              <a:rPr lang="en-US" b="0" i="0" u="none" strike="noStrike" cap="none" dirty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Node.js (v24) + Express.js 5.2, RESTful routing (MVC)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8229600" y="173736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8577072" y="192024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500"/>
              <a:buFont typeface="Cambria"/>
              <a:buNone/>
            </a:pPr>
            <a:r>
              <a:rPr lang="en-US" sz="1800" b="1" i="0" u="none" strike="noStrike" cap="none" dirty="0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Database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8485632" y="251460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050"/>
              <a:buFont typeface="Calibri"/>
              <a:buNone/>
            </a:pPr>
            <a:r>
              <a:rPr lang="en-US" b="0" i="0" u="none" strike="noStrike" cap="none" dirty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MongoDB Atlas (cloud) + Mongoose ODM schema validation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579120" y="333756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932688" y="352044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500"/>
              <a:buFont typeface="Cambria"/>
              <a:buNone/>
            </a:pPr>
            <a:r>
              <a:rPr lang="en-US" sz="1800" b="1" i="0" u="none" strike="noStrike" cap="none" dirty="0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Real-time layer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804672" y="411480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050"/>
              <a:buFont typeface="Calibri"/>
              <a:buNone/>
            </a:pPr>
            <a:r>
              <a:rPr lang="en-US" b="0" i="0" u="none" strike="noStrike" cap="none" dirty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Socket.IO 4.8 duplex channels - peer chat, notifications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389120" y="333756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727448" y="352044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500"/>
              <a:buFont typeface="Cambria"/>
              <a:buNone/>
            </a:pPr>
            <a:r>
              <a:rPr lang="en-US" sz="1800" b="1" i="0" u="none" strike="noStrike" cap="none" dirty="0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Auth &amp; Security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645152" y="411480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050"/>
              <a:buFont typeface="Calibri"/>
              <a:buNone/>
            </a:pPr>
            <a:r>
              <a:rPr lang="en-US" b="0" i="0" u="none" strike="noStrike" cap="none" dirty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JWT bearer tokens + </a:t>
            </a:r>
            <a:r>
              <a:rPr lang="en-US" b="0" i="0" u="none" strike="noStrike" cap="none" dirty="0" err="1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bcrypt</a:t>
            </a:r>
            <a:r>
              <a:rPr lang="en-US" b="0" i="0" u="none" strike="noStrike" cap="none" dirty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 password hashing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8229600" y="333756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8604504" y="352044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500"/>
              <a:buFont typeface="Cambria"/>
              <a:buNone/>
            </a:pPr>
            <a:r>
              <a:rPr lang="en-US" sz="1800" b="1" i="0" u="none" strike="noStrike" cap="none" dirty="0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Media &amp; Video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8485632" y="411480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050"/>
              <a:buFont typeface="Calibri"/>
              <a:buNone/>
            </a:pPr>
            <a:r>
              <a:rPr lang="en-US" b="0" i="0" u="none" strike="noStrike" cap="none" dirty="0" err="1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Cloudinary</a:t>
            </a:r>
            <a:r>
              <a:rPr lang="en-US" b="0" i="0" u="none" strike="noStrike" cap="none" dirty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 CDN (KYC docs, photos) + </a:t>
            </a:r>
            <a:r>
              <a:rPr lang="en-US" b="0" i="0" u="none" strike="noStrike" cap="none" dirty="0" err="1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Jitsi</a:t>
            </a:r>
            <a:r>
              <a:rPr lang="en-US" b="0" i="0" u="none" strike="noStrike" cap="none" dirty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 Meet </a:t>
            </a:r>
            <a:r>
              <a:rPr lang="en-US" b="0" i="0" u="none" strike="noStrike" cap="none" dirty="0" err="1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iframe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E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F8F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Actors &amp; Core Use Cases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48640" y="171196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2034540" y="1965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48640" y="269748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700"/>
              <a:buFont typeface="Cambria"/>
              <a:buNone/>
            </a:pPr>
            <a:r>
              <a:rPr lang="en-US" sz="2000" b="1" i="0" u="none" strike="noStrike" cap="none" dirty="0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Student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9"/>
          <p:cNvCxnSpPr/>
          <p:nvPr/>
        </p:nvCxnSpPr>
        <p:spPr>
          <a:xfrm>
            <a:off x="1371600" y="3154680"/>
            <a:ext cx="1965960" cy="0"/>
          </a:xfrm>
          <a:prstGeom prst="straightConnector1">
            <a:avLst/>
          </a:prstGeom>
          <a:noFill/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4" name="Google Shape;174;p9"/>
          <p:cNvSpPr/>
          <p:nvPr/>
        </p:nvSpPr>
        <p:spPr>
          <a:xfrm>
            <a:off x="868680" y="3337560"/>
            <a:ext cx="297180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Log daily mood &amp; lifestyle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Chat with AI Aura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Take counsellor-matching quiz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Book counselling appointment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Join anonymous peer chat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389120" y="169164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5875020" y="1965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4389120" y="269748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700"/>
              <a:buFont typeface="Cambria"/>
              <a:buNone/>
            </a:pPr>
            <a:r>
              <a:rPr lang="en-US" sz="2000" b="1" i="0" u="none" strike="noStrike" cap="none" dirty="0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Counsellor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9"/>
          <p:cNvCxnSpPr/>
          <p:nvPr/>
        </p:nvCxnSpPr>
        <p:spPr>
          <a:xfrm>
            <a:off x="5212080" y="3154680"/>
            <a:ext cx="1965960" cy="0"/>
          </a:xfrm>
          <a:prstGeom prst="straightConnector1">
            <a:avLst/>
          </a:prstGeom>
          <a:noFill/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" name="Google Shape;180;p9"/>
          <p:cNvSpPr/>
          <p:nvPr/>
        </p:nvSpPr>
        <p:spPr>
          <a:xfrm>
            <a:off x="4709160" y="3337560"/>
            <a:ext cx="297180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Configure availability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Approve / reject bookings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Conduct chat &amp; video sessions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Track payouts &amp; earnings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8229600" y="169164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9715500" y="1965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8229600" y="269748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700"/>
              <a:buFont typeface="Cambria"/>
              <a:buNone/>
            </a:pPr>
            <a:r>
              <a:rPr lang="en-US" sz="2000" b="1" i="0" u="none" strike="noStrike" cap="none" dirty="0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Admin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9"/>
          <p:cNvCxnSpPr/>
          <p:nvPr/>
        </p:nvCxnSpPr>
        <p:spPr>
          <a:xfrm>
            <a:off x="9052560" y="3154680"/>
            <a:ext cx="1965960" cy="0"/>
          </a:xfrm>
          <a:prstGeom prst="straightConnector1">
            <a:avLst/>
          </a:prstGeom>
          <a:noFill/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" name="Google Shape;186;p9"/>
          <p:cNvSpPr/>
          <p:nvPr/>
        </p:nvSpPr>
        <p:spPr>
          <a:xfrm>
            <a:off x="8549640" y="3337560"/>
            <a:ext cx="297180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Review counsellor KYC applications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Monitor emergency mood alerts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Publish resources &amp; announcements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Manage users &amp; payouts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E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BF8F"/>
              </a:buClr>
              <a:buSzPts val="1200"/>
              <a:buFont typeface="Calibri"/>
              <a:buNone/>
            </a:pP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3000"/>
              <a:buFont typeface="Cambria"/>
              <a:buNone/>
            </a:pP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3044952" y="1837944"/>
            <a:ext cx="5797296" cy="353872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868680" y="196596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300"/>
              <a:buFont typeface="Calibri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868680" y="2834640"/>
            <a:ext cx="640080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3200" marR="0" lvl="0" indent="-203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3803904" y="2162556"/>
            <a:ext cx="4288536" cy="2880360"/>
          </a:xfrm>
          <a:prstGeom prst="roundRect">
            <a:avLst>
              <a:gd name="adj" fmla="val 2381"/>
            </a:avLst>
          </a:prstGeom>
          <a:solidFill>
            <a:srgbClr val="3730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3973068" y="3099816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dirty="0">
                <a:solidFill>
                  <a:srgbClr val="FFFFFF"/>
                </a:solidFill>
                <a:latin typeface="Cambria"/>
                <a:ea typeface="Cambria"/>
                <a:cs typeface="Calibri"/>
                <a:sym typeface="Cambria"/>
              </a:rPr>
              <a:t>CORE FEATURES</a:t>
            </a:r>
            <a:endParaRPr sz="4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8092440" y="379476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E"/>
        </a:solidFill>
        <a:effectLst/>
      </p:bgPr>
    </p:bg>
    <p:spTree>
      <p:nvGrpSpPr>
        <p:cNvPr id="1" name="Shape 223">
          <a:extLst>
            <a:ext uri="{FF2B5EF4-FFF2-40B4-BE49-F238E27FC236}">
              <a16:creationId xmlns:a16="http://schemas.microsoft.com/office/drawing/2014/main" id="{251DD4C5-8496-FE49-30E3-8B7909976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>
            <a:extLst>
              <a:ext uri="{FF2B5EF4-FFF2-40B4-BE49-F238E27FC236}">
                <a16:creationId xmlns:a16="http://schemas.microsoft.com/office/drawing/2014/main" id="{CF2B06A0-7074-7A01-7C11-5690CBF28913}"/>
              </a:ext>
            </a:extLst>
          </p:cNvPr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08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>
            <a:extLst>
              <a:ext uri="{FF2B5EF4-FFF2-40B4-BE49-F238E27FC236}">
                <a16:creationId xmlns:a16="http://schemas.microsoft.com/office/drawing/2014/main" id="{23391776-B0EA-DC58-F73E-8DFC68052BEC}"/>
              </a:ext>
            </a:extLst>
          </p:cNvPr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BF8F"/>
              </a:buClr>
              <a:buSzPts val="1200"/>
              <a:buFont typeface="Calibri"/>
              <a:buNone/>
            </a:pP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>
            <a:extLst>
              <a:ext uri="{FF2B5EF4-FFF2-40B4-BE49-F238E27FC236}">
                <a16:creationId xmlns:a16="http://schemas.microsoft.com/office/drawing/2014/main" id="{DD9EA1C2-C4A5-FB8C-4BAD-EC2173DADA0E}"/>
              </a:ext>
            </a:extLst>
          </p:cNvPr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Mood Tracking &amp; Gamification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>
            <a:extLst>
              <a:ext uri="{FF2B5EF4-FFF2-40B4-BE49-F238E27FC236}">
                <a16:creationId xmlns:a16="http://schemas.microsoft.com/office/drawing/2014/main" id="{EC540D88-F018-CB74-9A4E-8784ADF60547}"/>
              </a:ext>
            </a:extLst>
          </p:cNvPr>
          <p:cNvSpPr/>
          <p:nvPr/>
        </p:nvSpPr>
        <p:spPr>
          <a:xfrm>
            <a:off x="2624328" y="1783080"/>
            <a:ext cx="704088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1">
            <a:extLst>
              <a:ext uri="{FF2B5EF4-FFF2-40B4-BE49-F238E27FC236}">
                <a16:creationId xmlns:a16="http://schemas.microsoft.com/office/drawing/2014/main" id="{70A72543-9446-D242-6BBA-D7C041E6E545}"/>
              </a:ext>
            </a:extLst>
          </p:cNvPr>
          <p:cNvSpPr/>
          <p:nvPr/>
        </p:nvSpPr>
        <p:spPr>
          <a:xfrm>
            <a:off x="2935224" y="2066544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3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Students log daily mood alongside lifestyle metrics; the system computes streaks, awards badges, and runs rule-based sentiment analysis on journal notes.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>
            <a:extLst>
              <a:ext uri="{FF2B5EF4-FFF2-40B4-BE49-F238E27FC236}">
                <a16:creationId xmlns:a16="http://schemas.microsoft.com/office/drawing/2014/main" id="{EA49B027-3804-13D7-A390-F0927709DA7B}"/>
              </a:ext>
            </a:extLst>
          </p:cNvPr>
          <p:cNvSpPr/>
          <p:nvPr/>
        </p:nvSpPr>
        <p:spPr>
          <a:xfrm>
            <a:off x="2935224" y="3324352"/>
            <a:ext cx="640080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3200" marR="0" lvl="0" indent="-203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Mood emoji, label, numeric value + optional journal note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Sleep, hydration, screen time, exercise &amp; energy metrics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Voice notes, photos and contextual tags (weather, exam period)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Interactive Recharts trend charts &amp; calendar heatmap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Consecutive-day streaks and milestone badges (e.g. “Hydration Hero”)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>
            <a:extLst>
              <a:ext uri="{FF2B5EF4-FFF2-40B4-BE49-F238E27FC236}">
                <a16:creationId xmlns:a16="http://schemas.microsoft.com/office/drawing/2014/main" id="{19234123-D3B7-F6C8-C42E-96CF3CAB4E79}"/>
              </a:ext>
            </a:extLst>
          </p:cNvPr>
          <p:cNvSpPr/>
          <p:nvPr/>
        </p:nvSpPr>
        <p:spPr>
          <a:xfrm>
            <a:off x="7818120" y="278892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Badge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types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>
            <a:extLst>
              <a:ext uri="{FF2B5EF4-FFF2-40B4-BE49-F238E27FC236}">
                <a16:creationId xmlns:a16="http://schemas.microsoft.com/office/drawing/2014/main" id="{9C8006B0-7625-7BC5-7EF9-8EAC586B5B98}"/>
              </a:ext>
            </a:extLst>
          </p:cNvPr>
          <p:cNvSpPr/>
          <p:nvPr/>
        </p:nvSpPr>
        <p:spPr>
          <a:xfrm>
            <a:off x="8092440" y="379476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>
            <a:extLst>
              <a:ext uri="{FF2B5EF4-FFF2-40B4-BE49-F238E27FC236}">
                <a16:creationId xmlns:a16="http://schemas.microsoft.com/office/drawing/2014/main" id="{35C48153-FF7D-D39A-9C8C-E6B4CC33427B}"/>
              </a:ext>
            </a:extLst>
          </p:cNvPr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963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E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09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F8F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3000"/>
              <a:buFont typeface="Cambria"/>
              <a:buNone/>
            </a:pPr>
            <a:r>
              <a:rPr lang="en-US" sz="3000" b="1" i="0" u="none" strike="noStrike" cap="none" dirty="0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AI Chat Companion - “Aura”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2194560" y="1787652"/>
            <a:ext cx="704088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2313432" y="196596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3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An always-on, rule-based bilingual companion offers immediate emotional support without depending on an external AI API.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2679192" y="3145536"/>
            <a:ext cx="640080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3200" marR="0" lvl="0" indent="-203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Keyword-driven detection of greetings, sadness, anxiety, stress, loneliness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Responses available in English and Sinhala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Guided breathing prompts and light-touch coping techniques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Crisis-keyword detection escalates to helpline numbers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Never presents itself as a substitute for a licensed professional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7818120" y="278892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Response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time target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8092440" y="379476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E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F8F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Counselling Booking &amp; Payment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2322576" y="2020824"/>
            <a:ext cx="704088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2660904" y="2450592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3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A matching questionnaire connects students to suitable counsellors, with conflict-checked scheduling and a simulated payment flow.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2752344" y="3547872"/>
            <a:ext cx="640080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3200" marR="0" lvl="0" indent="-203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Preference-based counsellor matching quiz + direct browse option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Calendar time-slot booking with overlap/conflict validation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Booking states: pending → approved / rejected → paid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Simulated card payment generates a masked card &amp; transaction ID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 err="1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Jitsi</a:t>
            </a: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 Meet video consultation embedded via </a:t>
            </a:r>
            <a:r>
              <a:rPr lang="en-US" sz="1600" b="0" i="0" u="none" strike="noStrike" cap="none" dirty="0" err="1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iframe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Flat LKR 1,500 counsellor payout per completed, paid session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7818120" y="278892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LKR flat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session rate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8092440" y="379476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E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F8F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Anonymous Peer Support Chat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2432304" y="1956816"/>
            <a:ext cx="704088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4"/>
          <p:cNvSpPr/>
          <p:nvPr/>
        </p:nvSpPr>
        <p:spPr>
          <a:xfrm>
            <a:off x="2843784" y="2176272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3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A Socket.IO powered matchmaking queue pairs students under randomly generated aliases, so real identities are never revealed.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2898648" y="3328416"/>
            <a:ext cx="640080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3200" marR="0" lvl="0" indent="-203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Random animal alias assigned per session (e.g. “Happy Otter”)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Automatic pairing of two different waiting students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Private, real-time chat room opened over </a:t>
            </a:r>
            <a:r>
              <a:rPr lang="en-US" sz="1600" b="0" i="0" u="none" strike="noStrike" cap="none" dirty="0" err="1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WebSockets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Graceful disconnect handling &amp; queue clean-up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Chat history persisted by anonymous room ID for moderation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7818120" y="278892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Avg. socket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message latency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8092440" y="379476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E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F8F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Role-Based Admin Dashboard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2377440" y="1901952"/>
            <a:ext cx="704088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3008376" y="2112264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13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6B6A85"/>
                </a:solidFill>
                <a:latin typeface="Calibri"/>
                <a:ea typeface="Calibri"/>
                <a:cs typeface="Calibri"/>
                <a:sym typeface="Calibri"/>
              </a:rPr>
              <a:t>Administrators get full visibility and control over users, counsellor verification, content and platform health.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3063240" y="3300984"/>
            <a:ext cx="640080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3200" marR="0" lvl="0" indent="-203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User management: activate / deactivate accounts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Counsellor KYC review - NIC, license, qualifications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Emergency alerts hub: flags mood logs scoring ≤ 2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Monthly automated counsellor payment settlement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13A"/>
              </a:buClr>
              <a:buSzPts val="13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Publish wellness resources &amp; platform announcements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7818120" y="278892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Uptime</a:t>
            </a:r>
            <a:endParaRPr sz="4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target (NFR)</a:t>
            </a:r>
            <a:endParaRPr sz="4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8092440" y="379476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E"/>
        </a:solidFill>
        <a:effectLst/>
      </p:bgPr>
    </p:bg>
    <p:spTree>
      <p:nvGrpSpPr>
        <p:cNvPr id="1" name="Shape 376">
          <a:extLst>
            <a:ext uri="{FF2B5EF4-FFF2-40B4-BE49-F238E27FC236}">
              <a16:creationId xmlns:a16="http://schemas.microsoft.com/office/drawing/2014/main" id="{799FDC24-AD40-61D8-BC1D-114DE77E6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8">
            <a:extLst>
              <a:ext uri="{FF2B5EF4-FFF2-40B4-BE49-F238E27FC236}">
                <a16:creationId xmlns:a16="http://schemas.microsoft.com/office/drawing/2014/main" id="{9E7CC565-C0A4-7516-EA7D-515249D39A15}"/>
              </a:ext>
            </a:extLst>
          </p:cNvPr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>
            <a:extLst>
              <a:ext uri="{FF2B5EF4-FFF2-40B4-BE49-F238E27FC236}">
                <a16:creationId xmlns:a16="http://schemas.microsoft.com/office/drawing/2014/main" id="{9B746CCB-FF5E-4E73-61AB-6B872CE5EA53}"/>
              </a:ext>
            </a:extLst>
          </p:cNvPr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F8F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>
            <a:extLst>
              <a:ext uri="{FF2B5EF4-FFF2-40B4-BE49-F238E27FC236}">
                <a16:creationId xmlns:a16="http://schemas.microsoft.com/office/drawing/2014/main" id="{5C57979A-F4A5-B7C6-6715-A681BE8C9FEB}"/>
              </a:ext>
            </a:extLst>
          </p:cNvPr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Key Achievements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>
            <a:extLst>
              <a:ext uri="{FF2B5EF4-FFF2-40B4-BE49-F238E27FC236}">
                <a16:creationId xmlns:a16="http://schemas.microsoft.com/office/drawing/2014/main" id="{A8B4ED02-7FC1-F20D-CA09-1300AD98A731}"/>
              </a:ext>
            </a:extLst>
          </p:cNvPr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1F0FC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8">
            <a:extLst>
              <a:ext uri="{FF2B5EF4-FFF2-40B4-BE49-F238E27FC236}">
                <a16:creationId xmlns:a16="http://schemas.microsoft.com/office/drawing/2014/main" id="{15FFD03F-C4D4-00BB-F7E1-6FCF80F69D38}"/>
              </a:ext>
            </a:extLst>
          </p:cNvPr>
          <p:cNvSpPr/>
          <p:nvPr/>
        </p:nvSpPr>
        <p:spPr>
          <a:xfrm>
            <a:off x="777240" y="21945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8">
            <a:extLst>
              <a:ext uri="{FF2B5EF4-FFF2-40B4-BE49-F238E27FC236}">
                <a16:creationId xmlns:a16="http://schemas.microsoft.com/office/drawing/2014/main" id="{081E320F-71C0-EC85-E7EF-A13106D16313}"/>
              </a:ext>
            </a:extLst>
          </p:cNvPr>
          <p:cNvSpPr/>
          <p:nvPr/>
        </p:nvSpPr>
        <p:spPr>
          <a:xfrm>
            <a:off x="1280160" y="1801368"/>
            <a:ext cx="438912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Bilingual crisis-detection engine identifying distress in English &amp; Sinhala, routing users to helplines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8">
            <a:extLst>
              <a:ext uri="{FF2B5EF4-FFF2-40B4-BE49-F238E27FC236}">
                <a16:creationId xmlns:a16="http://schemas.microsoft.com/office/drawing/2014/main" id="{E62B81B1-0A85-5CE2-E6BB-870B909344FF}"/>
              </a:ext>
            </a:extLst>
          </p:cNvPr>
          <p:cNvSpPr/>
          <p:nvPr/>
        </p:nvSpPr>
        <p:spPr>
          <a:xfrm>
            <a:off x="6263640" y="16916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1F0FC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8">
            <a:extLst>
              <a:ext uri="{FF2B5EF4-FFF2-40B4-BE49-F238E27FC236}">
                <a16:creationId xmlns:a16="http://schemas.microsoft.com/office/drawing/2014/main" id="{0BE9D523-A643-BC9D-2485-3ACFA792DAB0}"/>
              </a:ext>
            </a:extLst>
          </p:cNvPr>
          <p:cNvSpPr/>
          <p:nvPr/>
        </p:nvSpPr>
        <p:spPr>
          <a:xfrm>
            <a:off x="6492240" y="21945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8">
            <a:extLst>
              <a:ext uri="{FF2B5EF4-FFF2-40B4-BE49-F238E27FC236}">
                <a16:creationId xmlns:a16="http://schemas.microsoft.com/office/drawing/2014/main" id="{9BF520A0-1BD0-8741-7CF8-E2A95A6E7CE4}"/>
              </a:ext>
            </a:extLst>
          </p:cNvPr>
          <p:cNvSpPr/>
          <p:nvPr/>
        </p:nvSpPr>
        <p:spPr>
          <a:xfrm>
            <a:off x="6995160" y="1801368"/>
            <a:ext cx="438912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Rule-based coping-recommendation system correlating physical wellness metrics with mood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>
            <a:extLst>
              <a:ext uri="{FF2B5EF4-FFF2-40B4-BE49-F238E27FC236}">
                <a16:creationId xmlns:a16="http://schemas.microsoft.com/office/drawing/2014/main" id="{B6AD5953-0086-F2B6-6E98-77AEA7EE80AE}"/>
              </a:ext>
            </a:extLst>
          </p:cNvPr>
          <p:cNvSpPr/>
          <p:nvPr/>
        </p:nvSpPr>
        <p:spPr>
          <a:xfrm>
            <a:off x="548640" y="324612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8">
            <a:extLst>
              <a:ext uri="{FF2B5EF4-FFF2-40B4-BE49-F238E27FC236}">
                <a16:creationId xmlns:a16="http://schemas.microsoft.com/office/drawing/2014/main" id="{FE936910-1F96-879A-0E4F-1C7C98196FEA}"/>
              </a:ext>
            </a:extLst>
          </p:cNvPr>
          <p:cNvSpPr/>
          <p:nvPr/>
        </p:nvSpPr>
        <p:spPr>
          <a:xfrm>
            <a:off x="777240" y="37490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>
            <a:extLst>
              <a:ext uri="{FF2B5EF4-FFF2-40B4-BE49-F238E27FC236}">
                <a16:creationId xmlns:a16="http://schemas.microsoft.com/office/drawing/2014/main" id="{4D58CCEE-B494-3B1A-B543-A987ABB7B49B}"/>
              </a:ext>
            </a:extLst>
          </p:cNvPr>
          <p:cNvSpPr/>
          <p:nvPr/>
        </p:nvSpPr>
        <p:spPr>
          <a:xfrm>
            <a:off x="1280160" y="3355848"/>
            <a:ext cx="438912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Compatibility-scoring counsellor-matching algorithm replacing blind assignment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8">
            <a:extLst>
              <a:ext uri="{FF2B5EF4-FFF2-40B4-BE49-F238E27FC236}">
                <a16:creationId xmlns:a16="http://schemas.microsoft.com/office/drawing/2014/main" id="{785DA6C0-62EC-ED01-0807-6B41370E96F4}"/>
              </a:ext>
            </a:extLst>
          </p:cNvPr>
          <p:cNvSpPr/>
          <p:nvPr/>
        </p:nvSpPr>
        <p:spPr>
          <a:xfrm>
            <a:off x="6263640" y="324612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8">
            <a:extLst>
              <a:ext uri="{FF2B5EF4-FFF2-40B4-BE49-F238E27FC236}">
                <a16:creationId xmlns:a16="http://schemas.microsoft.com/office/drawing/2014/main" id="{6F3E5EDA-D207-46EF-BEAA-2BF4EC0C7891}"/>
              </a:ext>
            </a:extLst>
          </p:cNvPr>
          <p:cNvSpPr/>
          <p:nvPr/>
        </p:nvSpPr>
        <p:spPr>
          <a:xfrm>
            <a:off x="6492240" y="37490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>
            <a:extLst>
              <a:ext uri="{FF2B5EF4-FFF2-40B4-BE49-F238E27FC236}">
                <a16:creationId xmlns:a16="http://schemas.microsoft.com/office/drawing/2014/main" id="{9ED5BBD3-126E-A501-23F6-B4EEB0E4C1BE}"/>
              </a:ext>
            </a:extLst>
          </p:cNvPr>
          <p:cNvSpPr/>
          <p:nvPr/>
        </p:nvSpPr>
        <p:spPr>
          <a:xfrm>
            <a:off x="6995160" y="3355848"/>
            <a:ext cx="438912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Stateless real-time peer matchmaking queue with zero stored personal metadata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>
            <a:extLst>
              <a:ext uri="{FF2B5EF4-FFF2-40B4-BE49-F238E27FC236}">
                <a16:creationId xmlns:a16="http://schemas.microsoft.com/office/drawing/2014/main" id="{FC69F692-9FC9-3608-4584-4D22FE8137E1}"/>
              </a:ext>
            </a:extLst>
          </p:cNvPr>
          <p:cNvSpPr/>
          <p:nvPr/>
        </p:nvSpPr>
        <p:spPr>
          <a:xfrm>
            <a:off x="548640" y="48006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1F0FC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8">
            <a:extLst>
              <a:ext uri="{FF2B5EF4-FFF2-40B4-BE49-F238E27FC236}">
                <a16:creationId xmlns:a16="http://schemas.microsoft.com/office/drawing/2014/main" id="{4FC2CBF2-217E-20A2-AF58-177D7233146B}"/>
              </a:ext>
            </a:extLst>
          </p:cNvPr>
          <p:cNvSpPr/>
          <p:nvPr/>
        </p:nvSpPr>
        <p:spPr>
          <a:xfrm>
            <a:off x="777240" y="5303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>
            <a:extLst>
              <a:ext uri="{FF2B5EF4-FFF2-40B4-BE49-F238E27FC236}">
                <a16:creationId xmlns:a16="http://schemas.microsoft.com/office/drawing/2014/main" id="{A91CB096-152C-DFAB-B8A7-7C6024A0B62C}"/>
              </a:ext>
            </a:extLst>
          </p:cNvPr>
          <p:cNvSpPr/>
          <p:nvPr/>
        </p:nvSpPr>
        <p:spPr>
          <a:xfrm>
            <a:off x="1280160" y="4910328"/>
            <a:ext cx="438912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Fine-grained RBAC with instant blocking of deactivated accounts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>
            <a:extLst>
              <a:ext uri="{FF2B5EF4-FFF2-40B4-BE49-F238E27FC236}">
                <a16:creationId xmlns:a16="http://schemas.microsoft.com/office/drawing/2014/main" id="{32B5F00B-80CD-694F-E3FF-BB6836EF8182}"/>
              </a:ext>
            </a:extLst>
          </p:cNvPr>
          <p:cNvSpPr/>
          <p:nvPr/>
        </p:nvSpPr>
        <p:spPr>
          <a:xfrm>
            <a:off x="6263640" y="48006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1F0FC"/>
          </a:solidFill>
          <a:ln w="12700" cap="flat" cmpd="sng">
            <a:solidFill>
              <a:srgbClr val="E4E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8">
            <a:extLst>
              <a:ext uri="{FF2B5EF4-FFF2-40B4-BE49-F238E27FC236}">
                <a16:creationId xmlns:a16="http://schemas.microsoft.com/office/drawing/2014/main" id="{253A98A9-E8ED-81D8-231F-3D31482B66F2}"/>
              </a:ext>
            </a:extLst>
          </p:cNvPr>
          <p:cNvSpPr/>
          <p:nvPr/>
        </p:nvSpPr>
        <p:spPr>
          <a:xfrm>
            <a:off x="6492240" y="5303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6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>
            <a:extLst>
              <a:ext uri="{FF2B5EF4-FFF2-40B4-BE49-F238E27FC236}">
                <a16:creationId xmlns:a16="http://schemas.microsoft.com/office/drawing/2014/main" id="{8FBF3B7E-B437-C407-867A-679EDF6CEE4A}"/>
              </a:ext>
            </a:extLst>
          </p:cNvPr>
          <p:cNvSpPr/>
          <p:nvPr/>
        </p:nvSpPr>
        <p:spPr>
          <a:xfrm>
            <a:off x="6995160" y="4910328"/>
            <a:ext cx="438912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2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Integrated multi-channel consulting portal: chat, video calls &amp; activity prescriptions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>
            <a:extLst>
              <a:ext uri="{FF2B5EF4-FFF2-40B4-BE49-F238E27FC236}">
                <a16:creationId xmlns:a16="http://schemas.microsoft.com/office/drawing/2014/main" id="{7582A008-DADF-A625-76C9-FE8545BFCF16}"/>
              </a:ext>
            </a:extLst>
          </p:cNvPr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>
            <a:extLst>
              <a:ext uri="{FF2B5EF4-FFF2-40B4-BE49-F238E27FC236}">
                <a16:creationId xmlns:a16="http://schemas.microsoft.com/office/drawing/2014/main" id="{504D03B3-B95B-EB3B-F1F8-0D999051CF4A}"/>
              </a:ext>
            </a:extLst>
          </p:cNvPr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E38928-3DD2-4F7B-A2C6-1C7F380A8F05}"/>
              </a:ext>
            </a:extLst>
          </p:cNvPr>
          <p:cNvSpPr txBox="1"/>
          <p:nvPr/>
        </p:nvSpPr>
        <p:spPr>
          <a:xfrm>
            <a:off x="-2131314" y="72490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libri"/>
                <a:sym typeface="Cambria"/>
              </a:rPr>
              <a:t>09</a:t>
            </a:r>
            <a:endParaRPr lang="en-US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8117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E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9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F8F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2213A"/>
                </a:solidFill>
                <a:latin typeface="Cambria"/>
                <a:ea typeface="Cambria"/>
                <a:cs typeface="Cambria"/>
                <a:sym typeface="Cambria"/>
              </a:rPr>
              <a:t>Limitations &amp; Future Work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FBEAEA"/>
          </a:solidFill>
          <a:ln>
            <a:noFill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9"/>
          <p:cNvSpPr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3A3A"/>
              </a:buClr>
              <a:buSzPts val="1600"/>
              <a:buFont typeface="Cambria"/>
              <a:buNone/>
            </a:pPr>
            <a:r>
              <a:rPr lang="en-US" sz="2000" b="1" i="0" u="none" strike="noStrike" cap="none" dirty="0">
                <a:solidFill>
                  <a:srgbClr val="B23A3A"/>
                </a:solidFill>
                <a:latin typeface="Cambria"/>
                <a:ea typeface="Cambria"/>
                <a:cs typeface="Cambria"/>
                <a:sym typeface="Cambria"/>
              </a:rPr>
              <a:t>LIMITATIONS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9"/>
          <p:cNvSpPr/>
          <p:nvPr/>
        </p:nvSpPr>
        <p:spPr>
          <a:xfrm>
            <a:off x="868680" y="2523744"/>
            <a:ext cx="484632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250"/>
              <a:buFont typeface="+mj-lt"/>
              <a:buAutoNum type="arabicPeriod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Static keyword dictionary limits detection of sarcasm / nuanced phrasing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2213A"/>
              </a:buClr>
              <a:buSzPts val="1250"/>
              <a:buFont typeface="+mj-lt"/>
              <a:buAutoNum type="arabicPeriod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Centralized chat logs - anonymity relies on the database being secure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2213A"/>
              </a:buClr>
              <a:buSzPts val="1250"/>
              <a:buFont typeface="+mj-lt"/>
              <a:buAutoNum type="arabicPeriod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Requires a constant internet connection; no offline mode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2213A"/>
              </a:buClr>
              <a:buSzPts val="1250"/>
              <a:buFont typeface="+mj-lt"/>
              <a:buAutoNum type="arabicPeriod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Counsellor credential verification is fully manual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6217920" y="169164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DFF7EE"/>
          </a:solidFill>
          <a:ln>
            <a:noFill/>
          </a:ln>
          <a:effectLst>
            <a:outerShdw blurRad="101600" dist="38100" dir="5400000" algn="bl" rotWithShape="0">
              <a:srgbClr val="2A2A5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9"/>
          <p:cNvSpPr/>
          <p:nvPr/>
        </p:nvSpPr>
        <p:spPr>
          <a:xfrm>
            <a:off x="6537960" y="1920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7A54"/>
              </a:buClr>
              <a:buSzPts val="1600"/>
              <a:buFont typeface="Cambria"/>
              <a:buNone/>
            </a:pPr>
            <a:r>
              <a:rPr lang="en-US" sz="2000" b="1" i="0" u="none" strike="noStrike" cap="none" dirty="0">
                <a:solidFill>
                  <a:srgbClr val="1B7A54"/>
                </a:solidFill>
                <a:latin typeface="Cambria"/>
                <a:ea typeface="Cambria"/>
                <a:cs typeface="Cambria"/>
                <a:sym typeface="Cambria"/>
              </a:rPr>
              <a:t>FUTURE WORK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9"/>
          <p:cNvSpPr/>
          <p:nvPr/>
        </p:nvSpPr>
        <p:spPr>
          <a:xfrm>
            <a:off x="6537960" y="2487168"/>
            <a:ext cx="484632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13A"/>
              </a:buClr>
              <a:buSzPts val="1250"/>
              <a:buFont typeface="+mj-lt"/>
              <a:buAutoNum type="arabicPeriod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Migrate to a self-hosted LLM(Large Language Model) for deeper, private sentiment analysis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2213A"/>
              </a:buClr>
              <a:buSzPts val="1250"/>
              <a:buFont typeface="+mj-lt"/>
              <a:buAutoNum type="arabicPeriod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Zero-knowledge encryption for chat &amp; session transcripts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2213A"/>
              </a:buClr>
              <a:buSzPts val="1250"/>
              <a:buFont typeface="+mj-lt"/>
              <a:buAutoNum type="arabicPeriod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Sync smartwatches / wearables for objective biometric markers (HRV, sleep)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2213A"/>
              </a:buClr>
              <a:buSzPts val="1250"/>
              <a:buFont typeface="+mj-lt"/>
              <a:buAutoNum type="arabicPeriod"/>
            </a:pPr>
            <a:r>
              <a:rPr lang="en-US" sz="1600" b="0" i="0" u="none" strike="noStrike" cap="none" dirty="0">
                <a:solidFill>
                  <a:srgbClr val="22213A"/>
                </a:solidFill>
                <a:latin typeface="Calibri"/>
                <a:ea typeface="Calibri"/>
                <a:cs typeface="Calibri"/>
                <a:sym typeface="Calibri"/>
              </a:rPr>
              <a:t>Integrate a real payment gateway and native mobile apps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CE2557-3523-45F6-ACEE-C3E1E04C4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768" y="0"/>
            <a:ext cx="12344400" cy="6922007"/>
          </a:xfrm>
          <a:prstGeom prst="rect">
            <a:avLst/>
          </a:prstGeom>
        </p:spPr>
      </p:pic>
      <p:sp>
        <p:nvSpPr>
          <p:cNvPr id="431" name="Google Shape;431;p20"/>
          <p:cNvSpPr/>
          <p:nvPr/>
        </p:nvSpPr>
        <p:spPr>
          <a:xfrm>
            <a:off x="621792" y="28803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6600" b="1" i="0" u="none" strike="noStrike" cap="none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sz="6600" b="0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0"/>
          <p:cNvSpPr/>
          <p:nvPr/>
        </p:nvSpPr>
        <p:spPr>
          <a:xfrm>
            <a:off x="868680" y="2971800"/>
            <a:ext cx="5402911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5FB"/>
              </a:buClr>
              <a:buSzPts val="1500"/>
              <a:buFont typeface="Calibri"/>
              <a:buNone/>
            </a:pPr>
            <a:endParaRPr sz="1500" b="0" i="0" u="none" strike="noStrike" cap="none" dirty="0">
              <a:solidFill>
                <a:schemeClr val="accent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0"/>
          <p:cNvSpPr/>
          <p:nvPr/>
        </p:nvSpPr>
        <p:spPr>
          <a:xfrm>
            <a:off x="868680" y="4297680"/>
            <a:ext cx="9692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0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A85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1043</Words>
  <Application>Microsoft Office PowerPoint</Application>
  <PresentationFormat>Widescreen</PresentationFormat>
  <Paragraphs>191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Dishmi Dahara</dc:creator>
  <cp:lastModifiedBy>Dishmi</cp:lastModifiedBy>
  <cp:revision>10</cp:revision>
  <dcterms:modified xsi:type="dcterms:W3CDTF">2026-07-13T18:43:32Z</dcterms:modified>
</cp:coreProperties>
</file>